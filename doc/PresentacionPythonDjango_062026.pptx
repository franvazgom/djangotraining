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2"/>
  </p:sldMasterIdLst>
  <p:notesMasterIdLst>
    <p:notesMasterId r:id="rId14"/>
  </p:notesMasterIdLst>
  <p:sldIdLst>
    <p:sldId id="256" r:id="rId3"/>
    <p:sldId id="265" r:id="rId4"/>
    <p:sldId id="272" r:id="rId5"/>
    <p:sldId id="274" r:id="rId6"/>
    <p:sldId id="259" r:id="rId7"/>
    <p:sldId id="258" r:id="rId8"/>
    <p:sldId id="262" r:id="rId9"/>
    <p:sldId id="273" r:id="rId10"/>
    <p:sldId id="275" r:id="rId11"/>
    <p:sldId id="267" r:id="rId12"/>
    <p:sldId id="26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sjkNSa1OhYGczPVBggKtVNdEk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671" autoAdjust="0"/>
  </p:normalViewPr>
  <p:slideViewPr>
    <p:cSldViewPr snapToGrid="0">
      <p:cViewPr varScale="1">
        <p:scale>
          <a:sx n="114" d="100"/>
          <a:sy n="114" d="100"/>
        </p:scale>
        <p:origin x="20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4C13F466-2455-473F-61AA-60BB6733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658675F1-ED38-65BB-9124-A7254F95A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15950" lvl="1" indent="0">
              <a:buNone/>
            </a:pPr>
            <a:r>
              <a:rPr lang="es-MX" sz="1200" dirty="0"/>
              <a:t>Profesor: (UTM / ITESM / Anáhuac)</a:t>
            </a:r>
          </a:p>
          <a:p>
            <a:pPr marL="615950" lvl="1" indent="0">
              <a:buNone/>
            </a:pPr>
            <a:r>
              <a:rPr lang="es-MX" sz="1200" dirty="0"/>
              <a:t>Materias: Análisis y diseño de algoritmos / Lenguajes y autómatas / Matemáticas discretas / Matemáticas computacionales / Estructuras de datos / Programación (Java, C, C++, Python) / Bases de datos. </a:t>
            </a:r>
          </a:p>
          <a:p>
            <a:pPr marL="615950" lvl="1" indent="0">
              <a:buNone/>
            </a:pPr>
            <a:r>
              <a:rPr lang="es-MX" sz="1200" dirty="0"/>
              <a:t>Diplomados: Desarrollo de aplicaciones móviles (Java, </a:t>
            </a:r>
            <a:r>
              <a:rPr lang="es-MX" sz="1200" dirty="0" err="1"/>
              <a:t>Objective</a:t>
            </a:r>
            <a:r>
              <a:rPr lang="es-MX" sz="1200" dirty="0"/>
              <a:t> C, Swift) / Desarrollo de aplicaciones WEB (Java y Python) </a:t>
            </a:r>
          </a:p>
          <a:p>
            <a:pPr lvl="1"/>
            <a:endParaRPr lang="es-MX" sz="2000" dirty="0"/>
          </a:p>
          <a:p>
            <a:pPr marL="615950" lvl="1" indent="0">
              <a:buNone/>
            </a:pPr>
            <a:r>
              <a:rPr lang="es-MX" sz="2000" dirty="0" err="1"/>
              <a:t>TruEffort</a:t>
            </a:r>
            <a:r>
              <a:rPr lang="es-MX" sz="2000" dirty="0"/>
              <a:t>: Desarrollo en la nube – “Microservicios”</a:t>
            </a:r>
          </a:p>
          <a:p>
            <a:pPr marL="615950" lvl="1" indent="0">
              <a:buNone/>
            </a:pPr>
            <a:r>
              <a:rPr lang="es-MX" sz="2000" dirty="0"/>
              <a:t>	</a:t>
            </a:r>
            <a:r>
              <a:rPr lang="es-MX" dirty="0"/>
              <a:t>AWS / Java (</a:t>
            </a:r>
            <a:r>
              <a:rPr lang="es-MX" dirty="0" err="1"/>
              <a:t>spring</a:t>
            </a:r>
            <a:r>
              <a:rPr lang="es-MX" dirty="0"/>
              <a:t>) / Python (</a:t>
            </a:r>
            <a:r>
              <a:rPr lang="es-MX" dirty="0" err="1"/>
              <a:t>django</a:t>
            </a:r>
            <a:r>
              <a:rPr lang="es-MX" dirty="0"/>
              <a:t>) / JS (</a:t>
            </a:r>
            <a:r>
              <a:rPr lang="es-MX" dirty="0" err="1"/>
              <a:t>React</a:t>
            </a:r>
            <a:r>
              <a:rPr lang="es-MX" dirty="0"/>
              <a:t>) </a:t>
            </a:r>
          </a:p>
          <a:p>
            <a:pPr marL="615950" lvl="1" indent="0">
              <a:buNone/>
            </a:pPr>
            <a:r>
              <a:rPr lang="es-MX" dirty="0"/>
              <a:t>Banxico: </a:t>
            </a:r>
          </a:p>
          <a:p>
            <a:pPr lvl="1"/>
            <a:r>
              <a:rPr lang="es-MX" sz="1200" dirty="0"/>
              <a:t>Proyectos de Desarrollo de Software: </a:t>
            </a:r>
            <a:r>
              <a:rPr lang="es-MX" sz="1200" dirty="0" err="1"/>
              <a:t>Standalone</a:t>
            </a:r>
            <a:r>
              <a:rPr lang="es-MX" sz="1200" dirty="0"/>
              <a:t>, Web y móviles</a:t>
            </a:r>
          </a:p>
          <a:p>
            <a:pPr lvl="1"/>
            <a:r>
              <a:rPr lang="es-MX" sz="1200" dirty="0"/>
              <a:t>Manufactura (Lean </a:t>
            </a:r>
            <a:r>
              <a:rPr lang="es-MX" sz="1200" dirty="0" err="1"/>
              <a:t>Manufacturing</a:t>
            </a:r>
            <a:r>
              <a:rPr lang="es-MX" sz="1200" dirty="0"/>
              <a:t> – SIX SIGMA) </a:t>
            </a:r>
          </a:p>
          <a:p>
            <a:pPr lvl="1"/>
            <a:r>
              <a:rPr lang="es-MX" sz="1200" dirty="0"/>
              <a:t>Investigador (Distribución de efectivo)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0099DFEC-91F1-EC1C-DA1B-8868296DE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55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7777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COMUNIDAD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37146-D6E3-4250-90A3-31D911502D4D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4668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Generalmente el desarrollador pierde el tiempo reinventando la rueda con el desarrollo de </a:t>
            </a:r>
            <a:r>
              <a:rPr lang="es-MX" b="0" i="0" dirty="0" err="1">
                <a:solidFill>
                  <a:srgbClr val="374151"/>
                </a:solidFill>
                <a:effectLst/>
                <a:latin typeface="Söhne"/>
              </a:rPr>
              <a:t>CRUDs</a:t>
            </a: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 para gestionar catálogos, usuarios y privilegios.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37146-D6E3-4250-90A3-31D911502D4D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4183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</a:t>
            </a:r>
            <a:r>
              <a:rPr lang="es-MX" dirty="0" err="1"/>
              <a:t>framework</a:t>
            </a:r>
            <a:r>
              <a:rPr lang="es-MX" dirty="0"/>
              <a:t> Django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37146-D6E3-4250-90A3-31D911502D4D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9528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9032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dan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dan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  <a:defRPr sz="4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vazgom/djangoTrain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ixabay.com/en/binary-one-null-ball-binary-code-208216/" TargetMode="External"/><Relationship Id="rId5" Type="http://schemas.openxmlformats.org/officeDocument/2006/relationships/image" Target="../media/image6.jpg"/><Relationship Id="rId4" Type="http://schemas.openxmlformats.org/officeDocument/2006/relationships/hyperlink" Target="https://en.wikiversity.org/wiki/Python_Concept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freepngimg.com/png/17184-time-png-clipar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victorhckinthefreeworld.com/tag/gracia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854199"/>
            <a:ext cx="91440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ckwell"/>
              <a:buNone/>
            </a:pPr>
            <a:r>
              <a:rPr lang="es-MX" b="1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Python - Django</a:t>
            </a:r>
            <a:endParaRPr b="1"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954162"/>
            <a:ext cx="9144000" cy="568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MX" dirty="0"/>
              <a:t>MVT / ORM / </a:t>
            </a:r>
            <a:r>
              <a:rPr lang="es-MX" dirty="0" err="1"/>
              <a:t>Admin</a:t>
            </a:r>
            <a:r>
              <a:rPr lang="es-MX" dirty="0"/>
              <a:t> / CRUD / Despliegue / AJAX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AFDF9B51-06BB-7BFC-1054-244EEEA03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1A215-1180-7A29-0378-A35B4020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Presentación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2B342D-D738-39AC-D5C1-49EA52BA8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Ciencias Computacionales</a:t>
            </a:r>
          </a:p>
          <a:p>
            <a:r>
              <a:rPr lang="es-MX" dirty="0"/>
              <a:t>Especialidad en Estadística y Data </a:t>
            </a:r>
            <a:r>
              <a:rPr lang="es-MX" dirty="0" err="1"/>
              <a:t>Science</a:t>
            </a:r>
            <a:endParaRPr lang="es-MX" dirty="0"/>
          </a:p>
          <a:p>
            <a:r>
              <a:rPr lang="es-MX" dirty="0"/>
              <a:t>Profesor de cátedra -2001</a:t>
            </a:r>
          </a:p>
          <a:p>
            <a:r>
              <a:rPr lang="es-MX" dirty="0"/>
              <a:t>Banco de México – 2002</a:t>
            </a:r>
          </a:p>
          <a:p>
            <a:endParaRPr lang="es-MX" dirty="0"/>
          </a:p>
          <a:p>
            <a:r>
              <a:rPr lang="es-MX" dirty="0">
                <a:hlinkClick r:id="rId3"/>
              </a:rPr>
              <a:t>https://github.com/franvazgom/djangoTraining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104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6BFD4-C478-9FBF-C07C-F291198E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s-MX" dirty="0"/>
              <a:t>Agenda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2109EC46-4322-E71E-6835-F571F16D4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008"/>
            <a:ext cx="5257800" cy="4356955"/>
          </a:xfrm>
        </p:spPr>
        <p:txBody>
          <a:bodyPr>
            <a:normAutofit/>
          </a:bodyPr>
          <a:lstStyle/>
          <a:p>
            <a:r>
              <a:rPr lang="es-MX" sz="3200" dirty="0"/>
              <a:t>Expectativas</a:t>
            </a:r>
          </a:p>
          <a:p>
            <a:r>
              <a:rPr lang="es-MX" sz="3200" dirty="0"/>
              <a:t>¿Por qué Python y Django? </a:t>
            </a:r>
          </a:p>
          <a:p>
            <a:r>
              <a:rPr lang="es-MX" sz="3200" dirty="0"/>
              <a:t>Framework</a:t>
            </a:r>
          </a:p>
          <a:p>
            <a:r>
              <a:rPr lang="es-MX" sz="3200" dirty="0"/>
              <a:t>Lineamientos</a:t>
            </a:r>
          </a:p>
          <a:p>
            <a:r>
              <a:rPr lang="es-MX" sz="3200" dirty="0"/>
              <a:t>Temario</a:t>
            </a:r>
          </a:p>
          <a:p>
            <a:r>
              <a:rPr lang="es-MX" sz="3200" dirty="0"/>
              <a:t>Evaluación</a:t>
            </a: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8F7BF727-8810-0B01-3B9B-40C4EF520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9" r="41194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2827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BF65F-AB58-4BB8-A803-F34B15DE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Expectativas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617A94-D83A-3A57-B2E3-8E29A6BFA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696824" cy="4351338"/>
          </a:xfrm>
        </p:spPr>
        <p:txBody>
          <a:bodyPr/>
          <a:lstStyle/>
          <a:p>
            <a:r>
              <a:rPr lang="es-MX" dirty="0"/>
              <a:t>¿Qué espero de la materia? </a:t>
            </a:r>
          </a:p>
          <a:p>
            <a:r>
              <a:rPr lang="es-MX" dirty="0"/>
              <a:t>¿Qué espero del profesor?</a:t>
            </a:r>
          </a:p>
          <a:p>
            <a:r>
              <a:rPr lang="es-MX" dirty="0"/>
              <a:t>¿Qué estoy dispuesto hacer para aprender de mejor manera?</a:t>
            </a:r>
          </a:p>
          <a:p>
            <a:endParaRPr lang="es-MX" dirty="0"/>
          </a:p>
          <a:p>
            <a:r>
              <a:rPr lang="es-MX" i="1" dirty="0"/>
              <a:t>¿Qué espero de mis alumnos?</a:t>
            </a:r>
          </a:p>
        </p:txBody>
      </p:sp>
      <p:pic>
        <p:nvPicPr>
          <p:cNvPr id="4" name="Imagen 3" descr="Objetivos Objetivo Aspiración Cree Concepto Sueños Expectativas Imagen y  Fotografía Gratis 57392538.">
            <a:extLst>
              <a:ext uri="{FF2B5EF4-FFF2-40B4-BE49-F238E27FC236}">
                <a16:creationId xmlns:a16="http://schemas.microsoft.com/office/drawing/2014/main" id="{0438E4B0-928F-E117-8EAD-853C9ACE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24" y="1825625"/>
            <a:ext cx="4714613" cy="385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0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036C0DF-1E27-B804-07BA-8BB5F16437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9421" r="1" b="9423"/>
          <a:stretch/>
        </p:blipFill>
        <p:spPr>
          <a:xfrm>
            <a:off x="20" y="10"/>
            <a:ext cx="845029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965E00-009B-EC43-5E72-9C767015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627636"/>
          </a:xfrm>
        </p:spPr>
        <p:txBody>
          <a:bodyPr>
            <a:normAutofit fontScale="90000"/>
          </a:bodyPr>
          <a:lstStyle/>
          <a:p>
            <a:r>
              <a:rPr lang="es-ES_tradnl" dirty="0">
                <a:solidFill>
                  <a:schemeClr val="tx1"/>
                </a:solidFill>
              </a:rPr>
              <a:t>¿Por qué “Python”?</a:t>
            </a:r>
            <a:br>
              <a:rPr lang="es-ES_tradnl" dirty="0">
                <a:solidFill>
                  <a:schemeClr val="tx1"/>
                </a:solidFill>
              </a:rPr>
            </a:br>
            <a:r>
              <a:rPr lang="es-ES_tradnl" dirty="0">
                <a:solidFill>
                  <a:schemeClr val="tx1"/>
                </a:solidFill>
              </a:rPr>
              <a:t>	</a:t>
            </a:r>
            <a:r>
              <a:rPr lang="es-ES_tradnl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s-ES_tradnl" b="1" dirty="0">
                <a:solidFill>
                  <a:schemeClr val="tx1"/>
                </a:solidFill>
                <a:sym typeface="Wingdings" panose="05000000000000000000" pitchFamily="2" charset="2"/>
              </a:rPr>
              <a:t>Popular</a:t>
            </a:r>
            <a:endParaRPr lang="es-ES_tradnl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F83B-96EB-49F7-54E4-2B5485EEB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29843"/>
            <a:ext cx="5962785" cy="4527266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endParaRPr lang="en-US" sz="2800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POO</a:t>
            </a:r>
          </a:p>
          <a:p>
            <a:r>
              <a:rPr lang="en-US" dirty="0" err="1">
                <a:solidFill>
                  <a:schemeClr val="tx1"/>
                </a:solidFill>
              </a:rPr>
              <a:t>Potente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versatil</a:t>
            </a:r>
            <a:r>
              <a:rPr lang="en-US" dirty="0">
                <a:solidFill>
                  <a:schemeClr val="tx1"/>
                </a:solidFill>
              </a:rPr>
              <a:t> y </a:t>
            </a:r>
            <a:r>
              <a:rPr lang="en-US" dirty="0" err="1">
                <a:solidFill>
                  <a:schemeClr val="tx1"/>
                </a:solidFill>
              </a:rPr>
              <a:t>ampliamente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utilizado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Web, </a:t>
            </a:r>
            <a:r>
              <a:rPr lang="en-US" sz="2800" dirty="0" err="1">
                <a:solidFill>
                  <a:schemeClr val="tx1"/>
                </a:solidFill>
              </a:rPr>
              <a:t>DataScience</a:t>
            </a:r>
            <a:r>
              <a:rPr lang="en-US" sz="2800" dirty="0">
                <a:solidFill>
                  <a:schemeClr val="tx1"/>
                </a:solidFill>
              </a:rPr>
              <a:t> (ML)</a:t>
            </a:r>
          </a:p>
          <a:p>
            <a:pPr lvl="1"/>
            <a:r>
              <a:rPr lang="en-US" sz="2800" dirty="0" err="1">
                <a:solidFill>
                  <a:schemeClr val="tx1"/>
                </a:solidFill>
              </a:rPr>
              <a:t>Automatización</a:t>
            </a:r>
            <a:r>
              <a:rPr lang="en-US" sz="2800" dirty="0">
                <a:solidFill>
                  <a:schemeClr val="tx1"/>
                </a:solidFill>
              </a:rPr>
              <a:t>, Test, Security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sz="2800" dirty="0" err="1">
                <a:solidFill>
                  <a:schemeClr val="tx1"/>
                </a:solidFill>
                <a:sym typeface="Wingdings" panose="05000000000000000000" pitchFamily="2" charset="2"/>
              </a:rPr>
              <a:t>E</a:t>
            </a:r>
            <a:r>
              <a:rPr lang="en-US" sz="2800" dirty="0" err="1">
                <a:solidFill>
                  <a:schemeClr val="tx1"/>
                </a:solidFill>
              </a:rPr>
              <a:t>stándar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 err="1">
                <a:solidFill>
                  <a:schemeClr val="tx1"/>
                </a:solidFill>
              </a:rPr>
              <a:t>Aplicaciones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escalables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Curva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aprendizaje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corta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Open source</a:t>
            </a:r>
          </a:p>
          <a:p>
            <a:r>
              <a:rPr lang="en-US" dirty="0">
                <a:solidFill>
                  <a:schemeClr val="tx1"/>
                </a:solidFill>
              </a:rPr>
              <a:t>Multi-</a:t>
            </a:r>
            <a:r>
              <a:rPr lang="en-US" dirty="0" err="1">
                <a:solidFill>
                  <a:schemeClr val="tx1"/>
                </a:solidFill>
              </a:rPr>
              <a:t>plataforma</a:t>
            </a:r>
            <a:endParaRPr lang="es-ES_tradnl" dirty="0">
              <a:solidFill>
                <a:schemeClr val="tx1"/>
              </a:solidFill>
            </a:endParaRPr>
          </a:p>
        </p:txBody>
      </p:sp>
      <p:pic>
        <p:nvPicPr>
          <p:cNvPr id="7" name="Imagen 6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E4371C86-C768-12AE-ECA2-2531548BB41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7849" r="15638" b="1"/>
          <a:stretch/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0A989AB-3FFF-715A-7256-C623258A62EF}"/>
              </a:ext>
            </a:extLst>
          </p:cNvPr>
          <p:cNvSpPr txBox="1"/>
          <p:nvPr/>
        </p:nvSpPr>
        <p:spPr>
          <a:xfrm>
            <a:off x="6229215" y="5472995"/>
            <a:ext cx="5962785" cy="9541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lvl="1"/>
            <a:r>
              <a:rPr lang="en-US" sz="2800" dirty="0">
                <a:solidFill>
                  <a:srgbClr val="00B0F0"/>
                </a:solidFill>
              </a:rPr>
              <a:t>https://www.tiobe.com/tiobe-index/</a:t>
            </a:r>
          </a:p>
          <a:p>
            <a:pPr lvl="1"/>
            <a:r>
              <a:rPr lang="en-US" sz="2800" dirty="0" err="1">
                <a:solidFill>
                  <a:srgbClr val="00B0F0"/>
                </a:solidFill>
              </a:rPr>
              <a:t>StackOverflow</a:t>
            </a:r>
            <a:endParaRPr lang="es-MX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91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5441-CA66-91B3-A532-73DE11485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197" y="377289"/>
            <a:ext cx="5754896" cy="821314"/>
          </a:xfrm>
        </p:spPr>
        <p:txBody>
          <a:bodyPr anchor="b">
            <a:normAutofit/>
          </a:bodyPr>
          <a:lstStyle/>
          <a:p>
            <a:r>
              <a:rPr lang="es-ES_tradnl" sz="4000" dirty="0"/>
              <a:t>¿Por qué Django?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ACC7F3D1-44B4-8023-3986-B4D1843934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513" r="4" b="4"/>
          <a:stretch/>
        </p:blipFill>
        <p:spPr>
          <a:xfrm>
            <a:off x="704923" y="1789611"/>
            <a:ext cx="3307590" cy="34380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D503B-9145-DC2C-713A-C91FDE475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072" y="1642289"/>
            <a:ext cx="7566005" cy="4617720"/>
          </a:xfrm>
        </p:spPr>
        <p:txBody>
          <a:bodyPr anchor="t">
            <a:normAutofit fontScale="92500" lnSpcReduction="20000"/>
          </a:bodyPr>
          <a:lstStyle/>
          <a:p>
            <a:r>
              <a:rPr lang="es-ES_tradnl" b="1" u="sng" dirty="0"/>
              <a:t>Ahorro de tiempo</a:t>
            </a:r>
            <a:endParaRPr lang="es-ES_tradnl" dirty="0">
              <a:sym typeface="Wingdings" panose="05000000000000000000" pitchFamily="2" charset="2"/>
            </a:endParaRPr>
          </a:p>
          <a:p>
            <a:pPr lvl="1"/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Desarrollador </a:t>
            </a:r>
            <a:r>
              <a:rPr lang="es-MX" b="0" i="0" dirty="0">
                <a:solidFill>
                  <a:srgbClr val="374151"/>
                </a:solidFill>
                <a:effectLst/>
                <a:latin typeface="Söhne"/>
                <a:sym typeface="Wingdings" panose="05000000000000000000" pitchFamily="2" charset="2"/>
              </a:rPr>
              <a:t> </a:t>
            </a: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creación de valor</a:t>
            </a:r>
            <a:r>
              <a:rPr lang="es-MX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"</a:t>
            </a:r>
            <a:r>
              <a:rPr lang="es-MX" b="0" i="0" dirty="0">
                <a:solidFill>
                  <a:srgbClr val="FF0000"/>
                </a:solidFill>
                <a:effectLst/>
                <a:latin typeface="Söhne"/>
              </a:rPr>
              <a:t>lógica del negocio</a:t>
            </a:r>
            <a:r>
              <a:rPr lang="es-MX" b="0" i="0" dirty="0">
                <a:solidFill>
                  <a:srgbClr val="374151"/>
                </a:solidFill>
                <a:effectLst/>
                <a:latin typeface="Söhne"/>
              </a:rPr>
              <a:t>“. </a:t>
            </a:r>
            <a:r>
              <a:rPr lang="es-MX" b="0" i="1" dirty="0">
                <a:solidFill>
                  <a:srgbClr val="374151"/>
                </a:solidFill>
                <a:effectLst/>
                <a:latin typeface="Söhne"/>
              </a:rPr>
              <a:t>¡Hay que dejar de "inventar el hilo negro" y liberar el potencial creativo para construir soluciones innovadoras y significativas!</a:t>
            </a:r>
            <a:endParaRPr lang="es-ES_tradnl" b="1" i="1" dirty="0"/>
          </a:p>
          <a:p>
            <a:r>
              <a:rPr lang="es-ES_tradnl" dirty="0">
                <a:sym typeface="Wingdings" panose="05000000000000000000" pitchFamily="2" charset="2"/>
              </a:rPr>
              <a:t>Framework para el desarrollo </a:t>
            </a:r>
            <a:r>
              <a:rPr lang="es-ES_tradnl" b="1" dirty="0">
                <a:sym typeface="Wingdings" panose="05000000000000000000" pitchFamily="2" charset="2"/>
              </a:rPr>
              <a:t>Web</a:t>
            </a:r>
            <a:r>
              <a:rPr lang="es-ES_tradnl" dirty="0">
                <a:sym typeface="Wingdings" panose="05000000000000000000" pitchFamily="2" charset="2"/>
              </a:rPr>
              <a:t> en Python </a:t>
            </a:r>
            <a:endParaRPr lang="es-ES_tradnl" dirty="0"/>
          </a:p>
          <a:p>
            <a:r>
              <a:rPr lang="es-ES_tradnl" dirty="0"/>
              <a:t>Versátil / Fácil de usar</a:t>
            </a:r>
          </a:p>
          <a:p>
            <a:r>
              <a:rPr lang="es-ES_tradnl" dirty="0"/>
              <a:t>Aplicaciones Web</a:t>
            </a:r>
          </a:p>
          <a:p>
            <a:pPr lvl="1"/>
            <a:r>
              <a:rPr lang="es-ES_tradnl" dirty="0"/>
              <a:t>Pequeñas y grandes / simples y complejas. </a:t>
            </a:r>
          </a:p>
          <a:p>
            <a:pPr lvl="1"/>
            <a:r>
              <a:rPr lang="es-ES_tradnl" b="1" dirty="0"/>
              <a:t>Eficientes</a:t>
            </a:r>
            <a:r>
              <a:rPr lang="es-ES_tradnl" dirty="0"/>
              <a:t> y </a:t>
            </a:r>
            <a:r>
              <a:rPr lang="es-ES_tradnl" b="1" dirty="0"/>
              <a:t>seguras</a:t>
            </a:r>
            <a:r>
              <a:rPr lang="es-ES_tradnl" dirty="0"/>
              <a:t> </a:t>
            </a:r>
            <a:endParaRPr lang="es-ES_tradnl" b="1" u="sng" dirty="0"/>
          </a:p>
          <a:p>
            <a:r>
              <a:rPr lang="es-ES_tradnl" dirty="0"/>
              <a:t>Django–</a:t>
            </a:r>
            <a:r>
              <a:rPr lang="es-ES_tradnl" dirty="0" err="1"/>
              <a:t>rest</a:t>
            </a:r>
            <a:r>
              <a:rPr lang="es-ES_tradnl" dirty="0"/>
              <a:t> Framework</a:t>
            </a:r>
          </a:p>
          <a:p>
            <a:pPr lvl="1"/>
            <a:r>
              <a:rPr lang="es-ES_tradnl" sz="2000" i="1" dirty="0"/>
              <a:t>Microservicios</a:t>
            </a:r>
          </a:p>
          <a:p>
            <a:pPr lvl="1"/>
            <a:r>
              <a:rPr lang="es-ES_tradnl" sz="2000" i="1" dirty="0"/>
              <a:t>Cómputo en la nube</a:t>
            </a:r>
          </a:p>
        </p:txBody>
      </p:sp>
    </p:spTree>
    <p:extLst>
      <p:ext uri="{BB962C8B-B14F-4D97-AF65-F5344CB8AC3E}">
        <p14:creationId xmlns:p14="http://schemas.microsoft.com/office/powerpoint/2010/main" val="232853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FD3AD-D296-4DCB-96ED-E213B60C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dirty="0"/>
              <a:t>–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Vista - Template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7E5FA-37E2-C58F-7DCF-6553F38E4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97" y="2175324"/>
            <a:ext cx="10523438" cy="294656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82D8916-2571-8E95-5B5E-79311A451492}"/>
              </a:ext>
            </a:extLst>
          </p:cNvPr>
          <p:cNvSpPr txBox="1"/>
          <p:nvPr/>
        </p:nvSpPr>
        <p:spPr>
          <a:xfrm>
            <a:off x="809897" y="5168575"/>
            <a:ext cx="58424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Vistas – Clases o funciones que atienden las peticiones HTTP</a:t>
            </a:r>
          </a:p>
          <a:p>
            <a:r>
              <a:rPr lang="es-MX" dirty="0"/>
              <a:t>Modelos – ORM (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Relational</a:t>
            </a:r>
            <a:r>
              <a:rPr lang="es-MX" dirty="0"/>
              <a:t> </a:t>
            </a:r>
            <a:r>
              <a:rPr lang="es-MX" dirty="0" err="1"/>
              <a:t>Maping</a:t>
            </a:r>
            <a:r>
              <a:rPr lang="es-MX" dirty="0"/>
              <a:t>)</a:t>
            </a:r>
          </a:p>
          <a:p>
            <a:r>
              <a:rPr lang="es-MX" dirty="0" err="1"/>
              <a:t>Templates</a:t>
            </a:r>
            <a:r>
              <a:rPr lang="es-MX" dirty="0"/>
              <a:t> – HTML (plantillas) -&gt; Herencia -&gt; </a:t>
            </a:r>
            <a:r>
              <a:rPr lang="es-MX" dirty="0" err="1"/>
              <a:t>Template</a:t>
            </a:r>
            <a:r>
              <a:rPr lang="es-MX" dirty="0"/>
              <a:t> tags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5243E78-6519-0EA4-61D1-2F5CEACF62FF}"/>
              </a:ext>
            </a:extLst>
          </p:cNvPr>
          <p:cNvSpPr txBox="1"/>
          <p:nvPr/>
        </p:nvSpPr>
        <p:spPr>
          <a:xfrm>
            <a:off x="7729480" y="5168575"/>
            <a:ext cx="3508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Python – Django</a:t>
            </a:r>
          </a:p>
          <a:p>
            <a:r>
              <a:rPr lang="es-MX" dirty="0"/>
              <a:t>HTML – CSS – Bootstrap …  </a:t>
            </a:r>
          </a:p>
          <a:p>
            <a:r>
              <a:rPr lang="es-MX" dirty="0"/>
              <a:t>JavaScript (JQuery) … JSON, AJAX …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F6A69430-3E7E-DA0B-5FCD-FD6A60618320}"/>
              </a:ext>
            </a:extLst>
          </p:cNvPr>
          <p:cNvSpPr/>
          <p:nvPr/>
        </p:nvSpPr>
        <p:spPr>
          <a:xfrm>
            <a:off x="6186030" y="5422547"/>
            <a:ext cx="839755" cy="783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341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6CD2A-CBB4-900C-56A5-CB2D725F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Lineamientos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EF672D-A1B3-6FDA-FD5E-6B9A502ED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Asistencia (80% asistencia) </a:t>
            </a:r>
          </a:p>
          <a:p>
            <a:r>
              <a:rPr lang="es-MX" dirty="0"/>
              <a:t>Cámara</a:t>
            </a:r>
          </a:p>
          <a:p>
            <a:r>
              <a:rPr lang="es-MX" dirty="0"/>
              <a:t>Sesiones – propuesta:</a:t>
            </a:r>
          </a:p>
          <a:p>
            <a:pPr lvl="1"/>
            <a:r>
              <a:rPr lang="es-MX" dirty="0"/>
              <a:t>6 – 7.45 PM   </a:t>
            </a:r>
            <a:r>
              <a:rPr lang="es-MX" dirty="0">
                <a:sym typeface="Wingdings" panose="05000000000000000000" pitchFamily="2" charset="2"/>
              </a:rPr>
              <a:t> </a:t>
            </a:r>
            <a:r>
              <a:rPr lang="es-MX" dirty="0"/>
              <a:t>Clase</a:t>
            </a:r>
          </a:p>
          <a:p>
            <a:pPr lvl="1"/>
            <a:r>
              <a:rPr lang="es-MX" dirty="0"/>
              <a:t>7.45 – 8.00 PM </a:t>
            </a:r>
            <a:r>
              <a:rPr lang="es-MX" dirty="0">
                <a:sym typeface="Wingdings" panose="05000000000000000000" pitchFamily="2" charset="2"/>
              </a:rPr>
              <a:t> </a:t>
            </a:r>
            <a:r>
              <a:rPr lang="es-MX" dirty="0"/>
              <a:t>Break</a:t>
            </a:r>
          </a:p>
          <a:p>
            <a:pPr lvl="1"/>
            <a:r>
              <a:rPr lang="es-MX" dirty="0"/>
              <a:t>8.00 – 9.45 </a:t>
            </a:r>
            <a:r>
              <a:rPr lang="es-MX" dirty="0">
                <a:sym typeface="Wingdings" panose="05000000000000000000" pitchFamily="2" charset="2"/>
              </a:rPr>
              <a:t> Clase</a:t>
            </a:r>
          </a:p>
          <a:p>
            <a:pPr lvl="1"/>
            <a:r>
              <a:rPr lang="es-MX" dirty="0"/>
              <a:t>9.45 </a:t>
            </a:r>
            <a:r>
              <a:rPr lang="es-MX" dirty="0">
                <a:sym typeface="Wingdings" panose="05000000000000000000" pitchFamily="2" charset="2"/>
              </a:rPr>
              <a:t> </a:t>
            </a:r>
            <a:r>
              <a:rPr lang="es-MX" dirty="0"/>
              <a:t>Salida 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887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742FE-2A74-8312-DBD1-ABF0AAC4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Temario y evaluación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7F602-2723-14E7-D4AD-8E8EF026A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9350"/>
            <a:ext cx="10515600" cy="4767613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Instalación y configuración (Python, librerías, </a:t>
            </a:r>
            <a:r>
              <a:rPr lang="es-MX" dirty="0" err="1"/>
              <a:t>venv</a:t>
            </a:r>
            <a:r>
              <a:rPr lang="es-MX" dirty="0"/>
              <a:t>, SQLite, </a:t>
            </a:r>
            <a:r>
              <a:rPr lang="es-MX" dirty="0" err="1"/>
              <a:t>github</a:t>
            </a:r>
            <a:r>
              <a:rPr lang="es-MX" dirty="0"/>
              <a:t>)</a:t>
            </a:r>
          </a:p>
          <a:p>
            <a:r>
              <a:rPr lang="es-MX" dirty="0" err="1"/>
              <a:t>HelloWorld</a:t>
            </a:r>
            <a:r>
              <a:rPr lang="es-MX" dirty="0"/>
              <a:t> con Django, </a:t>
            </a:r>
            <a:r>
              <a:rPr lang="es-MX" dirty="0" err="1"/>
              <a:t>settings</a:t>
            </a:r>
            <a:r>
              <a:rPr lang="es-MX" dirty="0"/>
              <a:t>, migraciones, </a:t>
            </a:r>
            <a:r>
              <a:rPr lang="es-MX" dirty="0" err="1"/>
              <a:t>superuser</a:t>
            </a:r>
            <a:r>
              <a:rPr lang="es-MX" dirty="0"/>
              <a:t>, </a:t>
            </a:r>
            <a:r>
              <a:rPr lang="es-MX" dirty="0" err="1"/>
              <a:t>admin</a:t>
            </a:r>
            <a:endParaRPr lang="es-MX" dirty="0"/>
          </a:p>
          <a:p>
            <a:r>
              <a:rPr lang="es-MX" dirty="0" err="1"/>
              <a:t>Templates</a:t>
            </a:r>
            <a:r>
              <a:rPr lang="es-MX" dirty="0"/>
              <a:t>, herencia, </a:t>
            </a:r>
            <a:r>
              <a:rPr lang="es-MX" dirty="0" err="1"/>
              <a:t>templates</a:t>
            </a:r>
            <a:r>
              <a:rPr lang="es-MX" dirty="0"/>
              <a:t> tags (TT), </a:t>
            </a:r>
            <a:r>
              <a:rPr lang="es-MX" dirty="0" err="1"/>
              <a:t>static</a:t>
            </a:r>
            <a:r>
              <a:rPr lang="es-MX" dirty="0"/>
              <a:t> files, </a:t>
            </a:r>
          </a:p>
          <a:p>
            <a:r>
              <a:rPr lang="es-MX" dirty="0"/>
              <a:t>ORM, Modelos (básicos), SQLite, </a:t>
            </a:r>
            <a:r>
              <a:rPr lang="es-MX" dirty="0" err="1"/>
              <a:t>Admin</a:t>
            </a:r>
            <a:r>
              <a:rPr lang="es-MX" dirty="0"/>
              <a:t> </a:t>
            </a:r>
            <a:r>
              <a:rPr lang="es-MX" dirty="0" err="1"/>
              <a:t>config</a:t>
            </a:r>
            <a:r>
              <a:rPr lang="es-MX" dirty="0"/>
              <a:t>, Imágenes, </a:t>
            </a:r>
            <a:r>
              <a:rPr lang="es-MX" dirty="0" err="1"/>
              <a:t>QuerySet</a:t>
            </a:r>
            <a:r>
              <a:rPr lang="es-MX" dirty="0"/>
              <a:t>, Flujo Django</a:t>
            </a:r>
          </a:p>
          <a:p>
            <a:r>
              <a:rPr lang="es-MX" dirty="0"/>
              <a:t>Práctica repaso, urls.py, ORM – Relaciones, CRUD </a:t>
            </a:r>
            <a:r>
              <a:rPr lang="es-MX" dirty="0" err="1"/>
              <a:t>admin</a:t>
            </a:r>
            <a:r>
              <a:rPr lang="es-MX" dirty="0"/>
              <a:t>, TT </a:t>
            </a:r>
            <a:r>
              <a:rPr lang="es-MX" dirty="0" err="1"/>
              <a:t>include</a:t>
            </a:r>
            <a:r>
              <a:rPr lang="es-MX" dirty="0"/>
              <a:t> </a:t>
            </a:r>
          </a:p>
          <a:p>
            <a:r>
              <a:rPr lang="es-MX" dirty="0" err="1"/>
              <a:t>Debugging</a:t>
            </a:r>
            <a:r>
              <a:rPr lang="es-MX" dirty="0"/>
              <a:t> (</a:t>
            </a:r>
            <a:r>
              <a:rPr lang="es-MX" dirty="0" err="1"/>
              <a:t>brakpoint</a:t>
            </a:r>
            <a:r>
              <a:rPr lang="es-MX" dirty="0"/>
              <a:t>, Shell de Python), </a:t>
            </a:r>
          </a:p>
          <a:p>
            <a:r>
              <a:rPr lang="es-MX" dirty="0" err="1"/>
              <a:t>Admin</a:t>
            </a:r>
            <a:r>
              <a:rPr lang="es-MX" dirty="0"/>
              <a:t> – Configuración personalizada</a:t>
            </a:r>
          </a:p>
          <a:p>
            <a:r>
              <a:rPr lang="es-MX" dirty="0"/>
              <a:t>Tags propios, </a:t>
            </a:r>
            <a:r>
              <a:rPr lang="es-MX" dirty="0" err="1"/>
              <a:t>CKEditor</a:t>
            </a:r>
            <a:endParaRPr lang="es-MX" dirty="0"/>
          </a:p>
          <a:p>
            <a:r>
              <a:rPr lang="es-MX" dirty="0"/>
              <a:t>Formularios, validaciones, flujos, </a:t>
            </a:r>
            <a:r>
              <a:rPr lang="es-MX" dirty="0" err="1"/>
              <a:t>csrf_token</a:t>
            </a:r>
            <a:endParaRPr lang="es-MX" dirty="0"/>
          </a:p>
          <a:p>
            <a:r>
              <a:rPr lang="es-MX" dirty="0" err="1"/>
              <a:t>Deploy</a:t>
            </a:r>
            <a:r>
              <a:rPr lang="es-MX" dirty="0"/>
              <a:t> en </a:t>
            </a:r>
            <a:r>
              <a:rPr lang="es-MX" dirty="0" err="1"/>
              <a:t>pythonAnyWhere</a:t>
            </a:r>
            <a:endParaRPr lang="es-MX" dirty="0"/>
          </a:p>
          <a:p>
            <a:r>
              <a:rPr lang="es-MX" dirty="0"/>
              <a:t>CRUD Personalizado, permisos</a:t>
            </a:r>
          </a:p>
          <a:p>
            <a:r>
              <a:rPr lang="es-MX" dirty="0"/>
              <a:t>Ajax, JSON, (JS y JQuery) </a:t>
            </a:r>
          </a:p>
          <a:p>
            <a:r>
              <a:rPr lang="es-MX" u="sng" dirty="0"/>
              <a:t>Práctica cafetería (Proyecto)</a:t>
            </a:r>
            <a:r>
              <a:rPr lang="es-MX" dirty="0"/>
              <a:t> </a:t>
            </a:r>
          </a:p>
          <a:p>
            <a:pPr lvl="1"/>
            <a:endParaRPr lang="es-MX" dirty="0"/>
          </a:p>
          <a:p>
            <a:pPr lvl="1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2193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70423DFA-BE9D-3C06-1989-A0D943A3C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01337" y="516727"/>
            <a:ext cx="10189028" cy="58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6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8947398" y="6115688"/>
            <a:ext cx="24657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merida.anahuac.mx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843" y="6115688"/>
            <a:ext cx="716940" cy="33855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104783" y="6115688"/>
            <a:ext cx="30882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Universidad Anáhuac Mayab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2c673f97-f704-441a-a1be-26277c273d44" origin="userSelected">
  <element uid="26942484-e33a-4b77-b4f5-82dd3c942130" value=""/>
</sisl>
</file>

<file path=customXml/itemProps1.xml><?xml version="1.0" encoding="utf-8"?>
<ds:datastoreItem xmlns:ds="http://schemas.openxmlformats.org/officeDocument/2006/customXml" ds:itemID="{77C03CFB-38CB-4D8B-ADBA-E48B46A65F8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576</Words>
  <Application>Microsoft Office PowerPoint</Application>
  <PresentationFormat>Panorámica</PresentationFormat>
  <Paragraphs>94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Rockwell</vt:lpstr>
      <vt:lpstr>Söhne</vt:lpstr>
      <vt:lpstr>Verdana</vt:lpstr>
      <vt:lpstr>Wingdings</vt:lpstr>
      <vt:lpstr>Tema de Office</vt:lpstr>
      <vt:lpstr>Python - Django</vt:lpstr>
      <vt:lpstr>Presentación</vt:lpstr>
      <vt:lpstr>Agenda</vt:lpstr>
      <vt:lpstr>Expectativas</vt:lpstr>
      <vt:lpstr>¿Por qué “Python”?   Popular</vt:lpstr>
      <vt:lpstr>¿Por qué Django?</vt:lpstr>
      <vt:lpstr>Modelo – Vista - Template</vt:lpstr>
      <vt:lpstr>Lineamientos</vt:lpstr>
      <vt:lpstr>Temario y evaluación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Ortega Rios Covian Roberto Antonio</dc:creator>
  <cp:keywords>NO Significativa</cp:keywords>
  <cp:lastModifiedBy>Francisco Vazquez</cp:lastModifiedBy>
  <cp:revision>5</cp:revision>
  <dcterms:created xsi:type="dcterms:W3CDTF">2020-03-09T15:54:05Z</dcterms:created>
  <dcterms:modified xsi:type="dcterms:W3CDTF">2026-06-03T00:03:51Z</dcterms:modified>
  <cp:category>NO Significativa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c7d04a62-8d30-43fb-b670-f17c1faede96</vt:lpwstr>
  </property>
  <property fmtid="{D5CDD505-2E9C-101B-9397-08002B2CF9AE}" pid="3" name="bjClsUserRVM">
    <vt:lpwstr>[]</vt:lpwstr>
  </property>
  <property fmtid="{D5CDD505-2E9C-101B-9397-08002B2CF9AE}" pid="4" name="bjSaver">
    <vt:lpwstr>mAymV4LzfAGcIsL83OZVxFjownz8QRRK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policy="2c673f97-f704-441a-a1be-26277c273d44" origin="userSelected" xmlns="http://www.boldonj</vt:lpwstr>
  </property>
  <property fmtid="{D5CDD505-2E9C-101B-9397-08002B2CF9AE}" pid="6" name="bjDocumentLabelXML-0">
    <vt:lpwstr>ames.com/2008/01/sie/internal/label"&gt;&lt;element uid="26942484-e33a-4b77-b4f5-82dd3c942130" value="" /&gt;&lt;/sisl&gt;</vt:lpwstr>
  </property>
  <property fmtid="{D5CDD505-2E9C-101B-9397-08002B2CF9AE}" pid="7" name="X-Metadata 2">
    <vt:lpwstr>9c37f|||f14cf7a0-dd03-4cad-81e7-af3095354730</vt:lpwstr>
  </property>
  <property fmtid="{D5CDD505-2E9C-101B-9397-08002B2CF9AE}" pid="8" name="bjpmDocIH">
    <vt:lpwstr>t5BRYqifaI/BDzRXblMU+VXVNCIboZUh</vt:lpwstr>
  </property>
  <property fmtid="{D5CDD505-2E9C-101B-9397-08002B2CF9AE}" pid="9" name="X-Metadata 1">
    <vt:lpwstr>001: D10303 - 002: 170.70.58.35 - 003: 19/01/2026 08:31:27 a. m.</vt:lpwstr>
  </property>
</Properties>
</file>